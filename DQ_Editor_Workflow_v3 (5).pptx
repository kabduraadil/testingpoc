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+M4DjLA7dsx/BwobLdfN90l0n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217920" y="164592"/>
            <a:ext cx="2926080" cy="4809744"/>
          </a:xfrm>
          <a:prstGeom prst="rect">
            <a:avLst/>
          </a:prstGeom>
          <a:solidFill>
            <a:srgbClr val="0D2B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92240" y="457200"/>
            <a:ext cx="2377440" cy="2377440"/>
          </a:xfrm>
          <a:prstGeom prst="ellipse">
            <a:avLst/>
          </a:prstGeom>
          <a:solidFill>
            <a:srgbClr val="1565C0">
              <a:alpha val="30196"/>
            </a:srgbClr>
          </a:solidFill>
          <a:ln cap="flat" cmpd="sng" w="12700">
            <a:solidFill>
              <a:srgbClr val="1565C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040880" y="2286000"/>
            <a:ext cx="1645920" cy="1645920"/>
          </a:xfrm>
          <a:prstGeom prst="ellipse">
            <a:avLst/>
          </a:prstGeom>
          <a:solidFill>
            <a:srgbClr val="00897B">
              <a:alpha val="40000"/>
            </a:srgbClr>
          </a:solidFill>
          <a:ln cap="flat" cmpd="sng" w="12700">
            <a:solidFill>
              <a:srgbClr val="00897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02920" y="502920"/>
            <a:ext cx="2011680" cy="34747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502920" y="50292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MANAGEMENT BRIEF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02920" y="1051560"/>
            <a:ext cx="5486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Quality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02920" y="1783080"/>
            <a:ext cx="5486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Editor Workflow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02920" y="2697480"/>
            <a:ext cx="502920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502920" y="2834640"/>
            <a:ext cx="5394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An end-to-end platform for defining, validating and deploying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Data Quality Rules across physical and logical datasets.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02920" y="3931920"/>
            <a:ext cx="1005840" cy="685800"/>
          </a:xfrm>
          <a:prstGeom prst="roundRect">
            <a:avLst>
              <a:gd fmla="val 10667" name="adj"/>
            </a:avLst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02920" y="395020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57200" y="42062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Data Catalogue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1618488" y="3931920"/>
            <a:ext cx="1005840" cy="685800"/>
          </a:xfrm>
          <a:prstGeom prst="roundRect">
            <a:avLst>
              <a:gd fmla="val 10667" name="adj"/>
            </a:avLst>
          </a:prstGeom>
          <a:solidFill>
            <a:srgbClr val="006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1618488" y="395020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572768" y="42062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Dataset Reg.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2734056" y="3931920"/>
            <a:ext cx="1005840" cy="685800"/>
          </a:xfrm>
          <a:prstGeom prst="roundRect">
            <a:avLst>
              <a:gd fmla="val 10667" name="adj"/>
            </a:avLst>
          </a:prstGeom>
          <a:solidFill>
            <a:srgbClr val="452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2734056" y="395020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2688336" y="42062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Rule Creation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3849624" y="3931920"/>
            <a:ext cx="1005840" cy="685800"/>
          </a:xfrm>
          <a:prstGeom prst="roundRect">
            <a:avLst>
              <a:gd fmla="val 10667" name="adj"/>
            </a:avLst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3849624" y="395020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3803904" y="42062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Sandbox Test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4965192" y="3931920"/>
            <a:ext cx="1005840" cy="685800"/>
          </a:xfrm>
          <a:prstGeom prst="roundRect">
            <a:avLst>
              <a:gd fmla="val 10667" name="adj"/>
            </a:avLst>
          </a:prstGeom>
          <a:solidFill>
            <a:srgbClr val="1B5E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4965192" y="395020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4919472" y="42062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CI/CD Deploy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8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57200" y="164592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Are Building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 unified Data Quality platform with governance, automation and deployment capabilities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56032" y="1325880"/>
            <a:ext cx="274320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256032" y="1325880"/>
            <a:ext cx="274320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65760" y="1353312"/>
            <a:ext cx="457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58952" y="1389888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Metadata-Driven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20624" y="1965960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Rules are authored against a centralised Data Catalogue — ensuring every rule is anchored to governed, discoverable metadata across LOBs, schemas and tables.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182112" y="1325880"/>
            <a:ext cx="274320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3182112" y="1325880"/>
            <a:ext cx="2743200" cy="5029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3291840" y="1353312"/>
            <a:ext cx="457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685032" y="1389888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Governed Rule Lifecycle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346704" y="1965960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Rules go through staged authoring → semantic validation → sandbox testing → Maker-Checker attestation before any production deployment.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108192" y="1325880"/>
            <a:ext cx="274320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6108192" y="1325880"/>
            <a:ext cx="2743200" cy="50292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6217920" y="1353312"/>
            <a:ext cx="457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611112" y="1389888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272784" y="1965960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DQIP handshake generates a Rules JSON payload that feeds directly into CI/CD pipelines — enabling versioned, auditable releases to UAT and Production.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Covering: Physical Tables · Logical Models · DQ Dimensions · Version Control · UAT &amp; Production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65760" y="128016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Overall Workflow Chart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Complete end-to-end view — from metadata discovery to versioned production deployment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20040" y="896112"/>
            <a:ext cx="164592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530352" y="877824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Data Catalogue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103120" y="896112"/>
            <a:ext cx="164592" cy="16459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2313432" y="877824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Dataset Registration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886200" y="896112"/>
            <a:ext cx="164592" cy="164592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096512" y="877824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Rule Creation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669280" y="896112"/>
            <a:ext cx="164592" cy="16459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5879592" y="877824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452360" y="896112"/>
            <a:ext cx="164592" cy="1645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7662672" y="877824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64592" y="1353312"/>
            <a:ext cx="1261872" cy="621792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164592" y="1353312"/>
            <a:ext cx="1261872" cy="64008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237744" y="1426464"/>
            <a:ext cx="1124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·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237744" y="1691640"/>
            <a:ext cx="11247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Catalogue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572768" y="1353312"/>
            <a:ext cx="1261872" cy="621792"/>
          </a:xfrm>
          <a:prstGeom prst="rect">
            <a:avLst/>
          </a:prstGeom>
          <a:solidFill>
            <a:srgbClr val="0069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572768" y="1353312"/>
            <a:ext cx="1261872" cy="64008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1645920" y="1426464"/>
            <a:ext cx="1124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·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645920" y="1691640"/>
            <a:ext cx="11247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Registration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224528" y="1353312"/>
            <a:ext cx="1261872" cy="621792"/>
          </a:xfrm>
          <a:prstGeom prst="rect">
            <a:avLst/>
          </a:prstGeom>
          <a:solidFill>
            <a:srgbClr val="4527A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224528" y="1353312"/>
            <a:ext cx="1261872" cy="64008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297680" y="1426464"/>
            <a:ext cx="1124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· Create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297680" y="1691640"/>
            <a:ext cx="11247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/ Edit Rules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5623560" y="1353312"/>
            <a:ext cx="1261872" cy="621792"/>
          </a:xfrm>
          <a:prstGeom prst="rect">
            <a:avLst/>
          </a:prstGeom>
          <a:solidFill>
            <a:srgbClr val="E6510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5623560" y="1353312"/>
            <a:ext cx="1261872" cy="64008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5696712" y="1426464"/>
            <a:ext cx="1124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· Semantic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5696712" y="1691640"/>
            <a:ext cx="11247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+ Sandbox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7059168" y="1353312"/>
            <a:ext cx="1737360" cy="621792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7059168" y="1353312"/>
            <a:ext cx="1737360" cy="64008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7132320" y="1426464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· Maker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132320" y="169164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Checker · Attest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444752" y="1490472"/>
            <a:ext cx="201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852928" y="1490472"/>
            <a:ext cx="201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074920" y="1490472"/>
            <a:ext cx="201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446520" y="1490472"/>
            <a:ext cx="201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2852928" y="868680"/>
            <a:ext cx="1298448" cy="438912"/>
          </a:xfrm>
          <a:prstGeom prst="rect">
            <a:avLst/>
          </a:prstGeom>
          <a:solidFill>
            <a:srgbClr val="0D47A1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2852928" y="868680"/>
            <a:ext cx="1298448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2926080" y="941832"/>
            <a:ext cx="12070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Physical Tables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2852928" y="2395728"/>
            <a:ext cx="1298448" cy="438912"/>
          </a:xfrm>
          <a:prstGeom prst="rect">
            <a:avLst/>
          </a:prstGeom>
          <a:solidFill>
            <a:srgbClr val="004D4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2852928" y="2395728"/>
            <a:ext cx="1298448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2926080" y="2468880"/>
            <a:ext cx="12070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Logical Models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3236976" y="1481328"/>
            <a:ext cx="457200" cy="384048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3236976" y="1481328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3"/>
          <p:cNvCxnSpPr/>
          <p:nvPr/>
        </p:nvCxnSpPr>
        <p:spPr>
          <a:xfrm>
            <a:off x="2825496" y="1088136"/>
            <a:ext cx="0" cy="1527048"/>
          </a:xfrm>
          <a:prstGeom prst="straightConnector1">
            <a:avLst/>
          </a:prstGeom>
          <a:noFill/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3"/>
          <p:cNvCxnSpPr/>
          <p:nvPr/>
        </p:nvCxnSpPr>
        <p:spPr>
          <a:xfrm>
            <a:off x="2834640" y="1664208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3"/>
          <p:cNvCxnSpPr/>
          <p:nvPr/>
        </p:nvCxnSpPr>
        <p:spPr>
          <a:xfrm>
            <a:off x="2825496" y="1088136"/>
            <a:ext cx="27432" cy="0"/>
          </a:xfrm>
          <a:prstGeom prst="straightConnector1">
            <a:avLst/>
          </a:prstGeom>
          <a:noFill/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3"/>
          <p:cNvCxnSpPr/>
          <p:nvPr/>
        </p:nvCxnSpPr>
        <p:spPr>
          <a:xfrm>
            <a:off x="2825496" y="2615184"/>
            <a:ext cx="27432" cy="0"/>
          </a:xfrm>
          <a:prstGeom prst="straightConnector1">
            <a:avLst/>
          </a:prstGeom>
          <a:noFill/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3"/>
          <p:cNvCxnSpPr/>
          <p:nvPr/>
        </p:nvCxnSpPr>
        <p:spPr>
          <a:xfrm>
            <a:off x="4206240" y="1088136"/>
            <a:ext cx="0" cy="1527048"/>
          </a:xfrm>
          <a:prstGeom prst="straightConnector1">
            <a:avLst/>
          </a:prstGeom>
          <a:noFill/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3"/>
          <p:cNvCxnSpPr/>
          <p:nvPr/>
        </p:nvCxnSpPr>
        <p:spPr>
          <a:xfrm>
            <a:off x="4151376" y="1088136"/>
            <a:ext cx="54864" cy="0"/>
          </a:xfrm>
          <a:prstGeom prst="straightConnector1">
            <a:avLst/>
          </a:prstGeom>
          <a:noFill/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3"/>
          <p:cNvCxnSpPr/>
          <p:nvPr/>
        </p:nvCxnSpPr>
        <p:spPr>
          <a:xfrm>
            <a:off x="4151376" y="2615184"/>
            <a:ext cx="54864" cy="0"/>
          </a:xfrm>
          <a:prstGeom prst="straightConnector1">
            <a:avLst/>
          </a:prstGeom>
          <a:noFill/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3"/>
          <p:cNvCxnSpPr/>
          <p:nvPr/>
        </p:nvCxnSpPr>
        <p:spPr>
          <a:xfrm>
            <a:off x="4206240" y="1664208"/>
            <a:ext cx="18288" cy="0"/>
          </a:xfrm>
          <a:prstGeom prst="straightConnector1">
            <a:avLst/>
          </a:prstGeom>
          <a:noFill/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3"/>
          <p:cNvSpPr/>
          <p:nvPr/>
        </p:nvSpPr>
        <p:spPr>
          <a:xfrm>
            <a:off x="7022592" y="3273552"/>
            <a:ext cx="1783080" cy="502920"/>
          </a:xfrm>
          <a:prstGeom prst="rect">
            <a:avLst/>
          </a:prstGeom>
          <a:solidFill>
            <a:srgbClr val="006064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7022592" y="3273552"/>
            <a:ext cx="1783080" cy="54864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7104888" y="3328416"/>
            <a:ext cx="167335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· DQIP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7104888" y="3566160"/>
            <a:ext cx="1673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Handshake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5440680" y="3273552"/>
            <a:ext cx="1389888" cy="502920"/>
          </a:xfrm>
          <a:prstGeom prst="rect">
            <a:avLst/>
          </a:prstGeom>
          <a:solidFill>
            <a:srgbClr val="4527A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5440680" y="3273552"/>
            <a:ext cx="1389888" cy="54864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5522976" y="3328416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 · Rules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5522976" y="356616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JSON Payload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4069080" y="3273552"/>
            <a:ext cx="1207008" cy="502920"/>
          </a:xfrm>
          <a:prstGeom prst="rect">
            <a:avLst/>
          </a:prstGeom>
          <a:solidFill>
            <a:srgbClr val="BF360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4069080" y="3273552"/>
            <a:ext cx="1207008" cy="54864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4151376" y="3328416"/>
            <a:ext cx="10972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 · CI/CD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4151376" y="3566160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2788920" y="3273552"/>
            <a:ext cx="1115568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2788920" y="3273552"/>
            <a:ext cx="1115568" cy="54864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2871216" y="3328416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 · UAT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2871216" y="356616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Deploy &amp; Test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868680" y="3273552"/>
            <a:ext cx="1719072" cy="502920"/>
          </a:xfrm>
          <a:prstGeom prst="rect">
            <a:avLst/>
          </a:prstGeom>
          <a:solidFill>
            <a:srgbClr val="880E4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868680" y="3273552"/>
            <a:ext cx="1719072" cy="54864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950976" y="3328416"/>
            <a:ext cx="16093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· PRODUCTION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950976" y="3566160"/>
            <a:ext cx="1609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Versioned Release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6766560" y="3383280"/>
            <a:ext cx="2377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‹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5184648" y="3383280"/>
            <a:ext cx="2377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‹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3813048" y="3383280"/>
            <a:ext cx="2377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‹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2532888" y="3383280"/>
            <a:ext cx="2377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‹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3"/>
          <p:cNvCxnSpPr/>
          <p:nvPr/>
        </p:nvCxnSpPr>
        <p:spPr>
          <a:xfrm>
            <a:off x="7927848" y="1975104"/>
            <a:ext cx="0" cy="1298448"/>
          </a:xfrm>
          <a:prstGeom prst="straightConnector1">
            <a:avLst/>
          </a:prstGeom>
          <a:noFill/>
          <a:ln cap="flat" cmpd="sng" w="254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3"/>
          <p:cNvSpPr/>
          <p:nvPr/>
        </p:nvSpPr>
        <p:spPr>
          <a:xfrm>
            <a:off x="7744968" y="3044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0" y="2743200"/>
            <a:ext cx="9144000" cy="18288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365760" y="2761488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▶  Deployment Pipeline — Triggered by Maker-Checker Attestation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0" y="3886200"/>
            <a:ext cx="9144000" cy="274320"/>
          </a:xfrm>
          <a:prstGeom prst="rect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365760" y="3913632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Version-controlled rules maintained at each dataset (Physical or Logical) across all environments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 Workflow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Five integrated stages from metadata discovery to production deployment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182880" y="1417320"/>
            <a:ext cx="1554480" cy="3200400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182880" y="1417320"/>
            <a:ext cx="1554480" cy="7315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182880" y="150876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256032" y="2176272"/>
            <a:ext cx="1417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Catalogue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256032" y="3035808"/>
            <a:ext cx="1417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Metadata inventory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LOB · Schema · Tables · Attributes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1755648" y="2468880"/>
            <a:ext cx="2011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1965960" y="1417320"/>
            <a:ext cx="1554480" cy="3200400"/>
          </a:xfrm>
          <a:prstGeom prst="rect">
            <a:avLst/>
          </a:prstGeom>
          <a:solidFill>
            <a:srgbClr val="0069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1965960" y="1417320"/>
            <a:ext cx="1554480" cy="7315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1965960" y="150876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2039112" y="2176272"/>
            <a:ext cx="1417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Registration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2039112" y="3035808"/>
            <a:ext cx="1417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Physical Tables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or Logical Models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3538728" y="2468880"/>
            <a:ext cx="2011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3749040" y="1417320"/>
            <a:ext cx="1554480" cy="3200400"/>
          </a:xfrm>
          <a:prstGeom prst="rect">
            <a:avLst/>
          </a:prstGeom>
          <a:solidFill>
            <a:srgbClr val="4527A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3749040" y="1417320"/>
            <a:ext cx="1554480" cy="7315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3749040" y="150876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3822192" y="2176272"/>
            <a:ext cx="1417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3822192" y="3035808"/>
            <a:ext cx="1417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DQ Dimensions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Staged for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5321808" y="2468880"/>
            <a:ext cx="2011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5532120" y="1417320"/>
            <a:ext cx="1554480" cy="3200400"/>
          </a:xfrm>
          <a:prstGeom prst="rect">
            <a:avLst/>
          </a:prstGeom>
          <a:solidFill>
            <a:srgbClr val="E6510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5532120" y="1417320"/>
            <a:ext cx="1554480" cy="7315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5532120" y="150876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5605272" y="2176272"/>
            <a:ext cx="1417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Sandbox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5605272" y="3035808"/>
            <a:ext cx="1417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Semantic check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&amp; validation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7104888" y="2468880"/>
            <a:ext cx="2011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7315200" y="1417320"/>
            <a:ext cx="1554480" cy="320040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7315200" y="1417320"/>
            <a:ext cx="1554480" cy="7315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7315200" y="150876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7388352" y="2176272"/>
            <a:ext cx="1417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CI/CD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7388352" y="3035808"/>
            <a:ext cx="1417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UAT → Prod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Version controlled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Each stage feeds directly into the next — creating a fully automated, governed Data Quality 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0" y="0"/>
            <a:ext cx="2926080" cy="914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-365760" y="3474720"/>
            <a:ext cx="2286000" cy="2286000"/>
          </a:xfrm>
          <a:prstGeom prst="ellipse">
            <a:avLst/>
          </a:prstGeom>
          <a:solidFill>
            <a:srgbClr val="0D47A1">
              <a:alpha val="50196"/>
            </a:srgbClr>
          </a:solidFill>
          <a:ln cap="flat" cmpd="sng" w="12700">
            <a:solidFill>
              <a:srgbClr val="0D47A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228600" y="3200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STEP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182880" y="54864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182880" y="155448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Catalogue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182880" y="2651760"/>
            <a:ext cx="2286000" cy="45720"/>
          </a:xfrm>
          <a:prstGeom prst="rect">
            <a:avLst/>
          </a:prstGeom>
          <a:solidFill>
            <a:srgbClr val="90CA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182880" y="278892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Foundation of the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entire DQ workflow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3200400" y="274320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Metadata Inventory — What it Hosts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3200400" y="804672"/>
            <a:ext cx="566928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3200400" y="1005840"/>
            <a:ext cx="5669280" cy="822960"/>
          </a:xfrm>
          <a:prstGeom prst="rect">
            <a:avLst/>
          </a:prstGeom>
          <a:solidFill>
            <a:srgbClr val="EEF2F8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3200400" y="1005840"/>
            <a:ext cx="109728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3429000" y="1060704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LOB / Products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3429000" y="138988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Line-of-business and product hierarchy — the top-level catalogueable entities that own data assets.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3200400" y="1965960"/>
            <a:ext cx="5669280" cy="822960"/>
          </a:xfrm>
          <a:prstGeom prst="rect">
            <a:avLst/>
          </a:prstGeom>
          <a:solidFill>
            <a:srgbClr val="EEF2F8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3200400" y="1965960"/>
            <a:ext cx="109728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3429000" y="2020824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Schema (Catalogue)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3429000" y="235000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Logical schema definitions mapped to physical data sources, enabling governed data discovery.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3200400" y="2926080"/>
            <a:ext cx="5669280" cy="822960"/>
          </a:xfrm>
          <a:prstGeom prst="rect">
            <a:avLst/>
          </a:prstGeom>
          <a:solidFill>
            <a:srgbClr val="EEF2F8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3200400" y="2926080"/>
            <a:ext cx="109728" cy="82296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3429000" y="2980944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3429000" y="331012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Individual table definitions including ownership, lineage and classification metadata.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3200400" y="3886200"/>
            <a:ext cx="5669280" cy="822960"/>
          </a:xfrm>
          <a:prstGeom prst="rect">
            <a:avLst/>
          </a:prstGeom>
          <a:solidFill>
            <a:srgbClr val="EEF2F8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3200400" y="3886200"/>
            <a:ext cx="109728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3429000" y="3941064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Attributes Metadata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3429000" y="427024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Column-level metadata covering data types, descriptions, sensitivity tags and classifications.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0" y="1124712"/>
            <a:ext cx="9144000" cy="6400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411480" y="91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CBC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0CBC4"/>
                </a:solidFill>
                <a:latin typeface="Calibri"/>
                <a:ea typeface="Calibri"/>
                <a:cs typeface="Calibri"/>
                <a:sym typeface="Calibri"/>
              </a:rPr>
              <a:t>STEP 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411480" y="36576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Registration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411480" y="804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CB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0CBC4"/>
                </a:solidFill>
                <a:latin typeface="Calibri"/>
                <a:ea typeface="Calibri"/>
                <a:cs typeface="Calibri"/>
                <a:sym typeface="Calibri"/>
              </a:rPr>
              <a:t>Sourcing datasets from the Data Catalogue to author rules against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365760" y="137160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Rules can be registered against two types of datasets — both sourced directly from the Data Catalogue: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320040" y="1920240"/>
            <a:ext cx="3977640" cy="2852928"/>
          </a:xfrm>
          <a:prstGeom prst="rect">
            <a:avLst/>
          </a:prstGeom>
          <a:solidFill>
            <a:srgbClr val="E8F5F9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320040" y="1920240"/>
            <a:ext cx="397764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457200" y="195681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PATHWAY  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57200" y="223113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Physical Tables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75488" y="2606040"/>
            <a:ext cx="37033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Rules are created directly on physical tables surfaced through the Data Catalogue.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This is the most direct path — no transformation or join logic required. Ideal for single-table quality checks.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75488" y="4434840"/>
            <a:ext cx="3657600" cy="25603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502920" y="4443984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✔  Direct · Fast · Single dataset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4251960" y="2862072"/>
            <a:ext cx="658368" cy="658368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4251960" y="2862072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4864608" y="1920240"/>
            <a:ext cx="3977640" cy="2852928"/>
          </a:xfrm>
          <a:prstGeom prst="rect">
            <a:avLst/>
          </a:prstGeom>
          <a:solidFill>
            <a:srgbClr val="E8F5F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4864608" y="1920240"/>
            <a:ext cx="3977640" cy="5669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5001768" y="195681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PATHWAY  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5001768" y="223113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Logical Models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5010912" y="2606040"/>
            <a:ext cx="37033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Rules are created on Logical Models — pre-joined queries spanning multiple tables, built using the Data Catalogue.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Perfect for complex, cross-table quality rules where relationships between datasets must be validated.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5010912" y="4434840"/>
            <a:ext cx="3657600" cy="256032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5029200" y="4443984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✔  Multi-table · Pre-joined · Complex rules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0" y="0"/>
            <a:ext cx="2926080" cy="914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-457200" y="3291840"/>
            <a:ext cx="2560320" cy="2560320"/>
          </a:xfrm>
          <a:prstGeom prst="ellipse">
            <a:avLst/>
          </a:prstGeom>
          <a:solidFill>
            <a:srgbClr val="311B92">
              <a:alpha val="50196"/>
            </a:srgbClr>
          </a:solidFill>
          <a:ln cap="flat" cmpd="sng" w="12700">
            <a:solidFill>
              <a:srgbClr val="311B92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228600" y="3200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STEP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182880" y="54864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182880" y="155448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/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Edit Rules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182880" y="2578608"/>
            <a:ext cx="2286000" cy="45720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182880" y="2724912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Rules Staged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for governance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182880" y="37033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Status: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201168" y="4005072"/>
            <a:ext cx="2286000" cy="365760"/>
          </a:xfrm>
          <a:prstGeom prst="roundRect">
            <a:avLst>
              <a:gd fmla="val 20000" name="adj"/>
            </a:avLst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201168" y="400507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RULES STAGED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3154680" y="256032"/>
            <a:ext cx="5760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Authoring Rules &amp; Defining DQ Dimensions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3154680" y="777240"/>
            <a:ext cx="5760720" cy="4572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3154680" y="914400"/>
            <a:ext cx="5760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Each rule must be associated with a DQ Dimension — the classification that defines what aspect of quality the rule enforces.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3154680" y="1554480"/>
            <a:ext cx="2468880" cy="1371600"/>
          </a:xfrm>
          <a:prstGeom prst="rect">
            <a:avLst/>
          </a:prstGeom>
          <a:solidFill>
            <a:srgbClr val="EEF2F8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3154680" y="1554480"/>
            <a:ext cx="109728" cy="1371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3355848" y="1737360"/>
            <a:ext cx="438912" cy="438912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3355848" y="173736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3904488" y="1719072"/>
            <a:ext cx="16276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Completeness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3337560" y="2212848"/>
            <a:ext cx="21762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Ensures no required fields are missing or null across the dataset.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5760720" y="1554480"/>
            <a:ext cx="2468880" cy="1371600"/>
          </a:xfrm>
          <a:prstGeom prst="rect">
            <a:avLst/>
          </a:prstGeom>
          <a:solidFill>
            <a:srgbClr val="EEF2F8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5760720" y="1554480"/>
            <a:ext cx="109728" cy="13716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5961888" y="1737360"/>
            <a:ext cx="438912" cy="438912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5961888" y="173736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◎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6510528" y="1719072"/>
            <a:ext cx="16276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5943600" y="2212848"/>
            <a:ext cx="21762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Validates that values conform to expected formats, ranges or reference data.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3154680" y="3063240"/>
            <a:ext cx="2468880" cy="1371600"/>
          </a:xfrm>
          <a:prstGeom prst="rect">
            <a:avLst/>
          </a:prstGeom>
          <a:solidFill>
            <a:srgbClr val="EEF2F8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3154680" y="3063240"/>
            <a:ext cx="109728" cy="1371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3355848" y="3246120"/>
            <a:ext cx="438912" cy="438912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3355848" y="32461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◷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3904488" y="3227832"/>
            <a:ext cx="16276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Timeliness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3337560" y="3721608"/>
            <a:ext cx="21762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Confirms data is current and delivered within acceptable time thresholds.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5760720" y="3063240"/>
            <a:ext cx="2468880" cy="1371600"/>
          </a:xfrm>
          <a:prstGeom prst="rect">
            <a:avLst/>
          </a:prstGeom>
          <a:solidFill>
            <a:srgbClr val="EEF2F8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5760720" y="3063240"/>
            <a:ext cx="109728" cy="137160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5961888" y="3246120"/>
            <a:ext cx="438912" cy="438912"/>
          </a:xfrm>
          <a:prstGeom prst="ellipse">
            <a:avLst/>
          </a:prstGeom>
          <a:solidFill>
            <a:srgbClr val="452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5961888" y="32461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6510528" y="3227832"/>
            <a:ext cx="16276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Business Integrity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5943600" y="3721608"/>
            <a:ext cx="21762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Enforces cross-field, cross-table and domain-specific business rules.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457200" y="20116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B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AB91"/>
                </a:solidFill>
                <a:latin typeface="Calibri"/>
                <a:ea typeface="Calibri"/>
                <a:cs typeface="Calibri"/>
                <a:sym typeface="Calibri"/>
              </a:rPr>
              <a:t>STEP 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Check &amp; Sandbox Testing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Rules are validated for correctness before any deployment is triggered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0" y="1353312"/>
            <a:ext cx="9144000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274320" y="1554480"/>
            <a:ext cx="4114800" cy="3246120"/>
          </a:xfrm>
          <a:prstGeom prst="rect">
            <a:avLst/>
          </a:prstGeom>
          <a:solidFill>
            <a:srgbClr val="0D2B6E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274320" y="1554480"/>
            <a:ext cx="4114800" cy="502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457200" y="160020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Check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457200" y="2249424"/>
            <a:ext cx="201168" cy="201168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749808" y="2212848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Validates rule syntax and logic for correctness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457200" y="2752344"/>
            <a:ext cx="201168" cy="201168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749808" y="2715768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Ensures DQ Dimension is properly assigned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457200" y="3255264"/>
            <a:ext cx="201168" cy="201168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749808" y="3218688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Checks dataset binding (physical table or logical model)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457200" y="3758184"/>
            <a:ext cx="201168" cy="201168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749808" y="3721608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Flags conflicts with existing rules in the catalogue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457200" y="4462272"/>
            <a:ext cx="374904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475488" y="4471416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 syntax verified 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4754880" y="1554480"/>
            <a:ext cx="4114800" cy="3246120"/>
          </a:xfrm>
          <a:prstGeom prst="rect">
            <a:avLst/>
          </a:prstGeom>
          <a:solidFill>
            <a:srgbClr val="0D2B6E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4754880" y="1554480"/>
            <a:ext cx="411480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4937760" y="160020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Sandbox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4937760" y="2249424"/>
            <a:ext cx="201168" cy="20116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5230368" y="2212848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Executes rules against a safe, non-production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4937760" y="2752344"/>
            <a:ext cx="201168" cy="20116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5230368" y="2715768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Measures rule performance and identifies false positives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4937760" y="3255264"/>
            <a:ext cx="201168" cy="20116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5230368" y="3218688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Validates completeness, accuracy and timing thresholds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4937760" y="3758184"/>
            <a:ext cx="201168" cy="20116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5230368" y="3721608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Produces a test report for Maker-Checker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4937760" y="4462272"/>
            <a:ext cx="374904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4956048" y="4471416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 behaviour confirmed 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4407408" y="283464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0" y="0"/>
            <a:ext cx="2926080" cy="914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-548640" y="3200400"/>
            <a:ext cx="2743200" cy="2743200"/>
          </a:xfrm>
          <a:prstGeom prst="ellipse">
            <a:avLst/>
          </a:prstGeom>
          <a:solidFill>
            <a:srgbClr val="1B5E20">
              <a:alpha val="45098"/>
            </a:srgbClr>
          </a:solidFill>
          <a:ln cap="flat" cmpd="sng" w="12700">
            <a:solidFill>
              <a:srgbClr val="1B5E2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228600" y="3200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STEP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182880" y="54864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182880" y="1554480"/>
            <a:ext cx="2468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Maker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Checker &amp;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182880" y="2697480"/>
            <a:ext cx="2286000" cy="4572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182880" y="283464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Governance gate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before UAT &amp;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Production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3154680" y="201168"/>
            <a:ext cx="5760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From Attestation to Production — Governed Deployment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3154680" y="731520"/>
            <a:ext cx="5760720" cy="45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3154680" y="960120"/>
            <a:ext cx="5742432" cy="822960"/>
          </a:xfrm>
          <a:prstGeom prst="rect">
            <a:avLst/>
          </a:prstGeom>
          <a:solidFill>
            <a:srgbClr val="EEF2F8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3154680" y="960120"/>
            <a:ext cx="109728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3337560" y="1143000"/>
            <a:ext cx="438912" cy="438912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3337560" y="114300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3886200" y="1014984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Maker-Checker Attestation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3886200" y="1353312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Four-eyes governance control — the Rule Maker submits; an independent Checker reviews and attests the rule before it can proceed.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3154680" y="1947672"/>
            <a:ext cx="5742432" cy="822960"/>
          </a:xfrm>
          <a:prstGeom prst="rect">
            <a:avLst/>
          </a:prstGeom>
          <a:solidFill>
            <a:srgbClr val="EEF2F8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3154680" y="1947672"/>
            <a:ext cx="109728" cy="8229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3337560" y="2130552"/>
            <a:ext cx="438912" cy="438912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3337560" y="213055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3886200" y="2002536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DQIP Handshake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3886200" y="2340864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Upon attestation, the DQIP (Data Quality Integration Platform) handshake is triggered — packaging all approved rules into a structured Rules JSON payload.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3154680" y="2935224"/>
            <a:ext cx="5742432" cy="822960"/>
          </a:xfrm>
          <a:prstGeom prst="rect">
            <a:avLst/>
          </a:prstGeom>
          <a:solidFill>
            <a:srgbClr val="EEF2F8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3154680" y="2935224"/>
            <a:ext cx="109728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3337560" y="3118104"/>
            <a:ext cx="438912" cy="438912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3337560" y="311810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3886200" y="299008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CI/CD Pipeline Deployment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3886200" y="3328416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The Rules JSON feeds into the CI/CD pipeline for automated, versioned deployment to UAT, then Production — with full rollback capability.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3154680" y="3922776"/>
            <a:ext cx="5742432" cy="822960"/>
          </a:xfrm>
          <a:prstGeom prst="rect">
            <a:avLst/>
          </a:prstGeom>
          <a:solidFill>
            <a:srgbClr val="EEF2F8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3154680" y="3922776"/>
            <a:ext cx="109728" cy="82296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3337560" y="4105656"/>
            <a:ext cx="438912" cy="438912"/>
          </a:xfrm>
          <a:prstGeom prst="ellipse">
            <a:avLst/>
          </a:prstGeom>
          <a:solidFill>
            <a:srgbClr val="452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3337560" y="410565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3886200" y="397764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Version Maintenance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3886200" y="4315968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Every rule at each dataset (physical or logical) is version-controlled — ensuring auditability, traceability and rollback across all environments.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8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0" y="941832"/>
            <a:ext cx="9144000" cy="640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411480" y="7315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GOVERNANCE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411480" y="274320"/>
            <a:ext cx="6400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Maker-Checker Attestation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411480" y="69494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Four-eyes governance control ensuring every rule is independently reviewed before deployment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182880" y="1143000"/>
            <a:ext cx="2606040" cy="3200400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182880" y="1143000"/>
            <a:ext cx="2606040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0"/>
          <p:cNvSpPr/>
          <p:nvPr/>
        </p:nvSpPr>
        <p:spPr>
          <a:xfrm>
            <a:off x="777240" y="1051560"/>
            <a:ext cx="685800" cy="685800"/>
          </a:xfrm>
          <a:prstGeom prst="ellipse">
            <a:avLst/>
          </a:prstGeom>
          <a:solidFill>
            <a:srgbClr val="1565C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777240" y="1069848"/>
            <a:ext cx="685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182880" y="118872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182880" y="1463040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Rule Author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292608" y="1847088"/>
            <a:ext cx="320040" cy="32004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0"/>
          <p:cNvSpPr/>
          <p:nvPr/>
        </p:nvSpPr>
        <p:spPr>
          <a:xfrm>
            <a:off x="292608" y="184708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685800" y="181051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 the Rule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685800" y="2084832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Creates rule logic, assigns DQ Dimension (Completeness, Accuracy, Timeliness, Business Integrity)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292608" y="2624328"/>
            <a:ext cx="320040" cy="32004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292608" y="262432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685800" y="25877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Sandbox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685800" y="2862072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Executes rule against non-production data to validate logic and performance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292608" y="3401568"/>
            <a:ext cx="320040" cy="32004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292608" y="340156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685800" y="336499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Submit for Attestation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685800" y="3639312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Formally submits the rule with status 'Staged' — triggering the Checker notification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6355080" y="1143000"/>
            <a:ext cx="2606040" cy="320040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6355080" y="1143000"/>
            <a:ext cx="2606040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6949440" y="1051560"/>
            <a:ext cx="685800" cy="685800"/>
          </a:xfrm>
          <a:prstGeom prst="ellipse">
            <a:avLst/>
          </a:prstGeom>
          <a:solidFill>
            <a:srgbClr val="1B5E2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6949440" y="1069848"/>
            <a:ext cx="685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6355080" y="118872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6355080" y="1463040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Independent Reviewer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6473952" y="1847088"/>
            <a:ext cx="320040" cy="3200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6473952" y="184708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6858000" y="1810512"/>
            <a:ext cx="20299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Rule Logic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6858000" y="2084832"/>
            <a:ext cx="20299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Independently validates the rule expression, DQ Dimension assignment and business context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6473952" y="2624328"/>
            <a:ext cx="320040" cy="3200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6473952" y="262432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6858000" y="2587752"/>
            <a:ext cx="20299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Inspect Test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6858000" y="2862072"/>
            <a:ext cx="20299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Reviews sandbox test outputs — pass rates, false positives, performance impact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6473952" y="3401568"/>
            <a:ext cx="320040" cy="3200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6473952" y="340156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6858000" y="3364992"/>
            <a:ext cx="20299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Attest or Reject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6858000" y="3639312"/>
            <a:ext cx="20299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Approves → triggers DQIP handshake  |  Rejects → returns to Maker with comments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2944368" y="1143000"/>
            <a:ext cx="32918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2944368" y="1143000"/>
            <a:ext cx="3291840" cy="640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2944368" y="11887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ATTESTATION CHECKPOINT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3127248" y="1664208"/>
            <a:ext cx="2926080" cy="512064"/>
          </a:xfrm>
          <a:prstGeom prst="rect">
            <a:avLst/>
          </a:prstGeom>
          <a:solidFill>
            <a:srgbClr val="EEF2F8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3127248" y="1664208"/>
            <a:ext cx="91440" cy="5120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3310128" y="170992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Rule Submitted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3310128" y="1938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Status set to STAGED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4407408" y="2185416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3127248" y="2322576"/>
            <a:ext cx="2926080" cy="512064"/>
          </a:xfrm>
          <a:prstGeom prst="rect">
            <a:avLst/>
          </a:prstGeom>
          <a:solidFill>
            <a:srgbClr val="EEF2F8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3127248" y="2322576"/>
            <a:ext cx="91440" cy="512064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3310128" y="236829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Checker Notified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3310128" y="259689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Email / system alert triggered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4407408" y="2843784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3127248" y="2980944"/>
            <a:ext cx="2926080" cy="512064"/>
          </a:xfrm>
          <a:prstGeom prst="rect">
            <a:avLst/>
          </a:prstGeom>
          <a:solidFill>
            <a:srgbClr val="EEF2F8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0"/>
          <p:cNvSpPr/>
          <p:nvPr/>
        </p:nvSpPr>
        <p:spPr>
          <a:xfrm>
            <a:off x="3127248" y="2980944"/>
            <a:ext cx="91440" cy="512064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3310128" y="302666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Independent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3310128" y="325526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No collaboration with Maker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4407408" y="3502152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3127248" y="3639312"/>
            <a:ext cx="2926080" cy="512064"/>
          </a:xfrm>
          <a:prstGeom prst="rect">
            <a:avLst/>
          </a:prstGeom>
          <a:solidFill>
            <a:srgbClr val="EEF2F8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3127248" y="3639312"/>
            <a:ext cx="91440" cy="5120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3310128" y="368503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Decision Gate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3310128" y="391363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Approve  OR  Reject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182880" y="4462272"/>
            <a:ext cx="4160520" cy="530352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182880" y="4462272"/>
            <a:ext cx="109728" cy="530352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0"/>
          <p:cNvSpPr/>
          <p:nvPr/>
        </p:nvSpPr>
        <p:spPr>
          <a:xfrm>
            <a:off x="384048" y="44805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APPROVED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384048" y="4718304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DQIP Handshake triggered → Rules JSON generated → CI/CD deployment pipeline initiated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4754880" y="4462272"/>
            <a:ext cx="4206240" cy="530352"/>
          </a:xfrm>
          <a:prstGeom prst="rect">
            <a:avLst/>
          </a:prstGeom>
          <a:solidFill>
            <a:srgbClr val="E6510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4754880" y="4462272"/>
            <a:ext cx="109728" cy="53035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0"/>
          <p:cNvSpPr/>
          <p:nvPr/>
        </p:nvSpPr>
        <p:spPr>
          <a:xfrm>
            <a:off x="4956048" y="44805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✖  REJECTED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4956048" y="4718304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0B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E0B2"/>
                </a:solidFill>
                <a:latin typeface="Calibri"/>
                <a:ea typeface="Calibri"/>
                <a:cs typeface="Calibri"/>
                <a:sym typeface="Calibri"/>
              </a:rPr>
              <a:t>Rule returned to Maker with review comments → Maker amends and resubmits for attestation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2971800" y="418795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↙ Approved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4663440" y="418795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Rejected 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457200" y="27432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This Delivers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The Data Quality Editor is a purpose-built, governed workflow engine that takes DQ rule management from manual and fragmented to automated and auditable.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274320" y="1572768"/>
            <a:ext cx="4114800" cy="1417320"/>
          </a:xfrm>
          <a:prstGeom prst="rect">
            <a:avLst/>
          </a:prstGeom>
          <a:solidFill>
            <a:srgbClr val="0D2B6E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1"/>
          <p:cNvSpPr/>
          <p:nvPr/>
        </p:nvSpPr>
        <p:spPr>
          <a:xfrm>
            <a:off x="274320" y="1572768"/>
            <a:ext cx="4114800" cy="91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438912" y="1828800"/>
            <a:ext cx="457200" cy="457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1"/>
          <p:cNvSpPr/>
          <p:nvPr/>
        </p:nvSpPr>
        <p:spPr>
          <a:xfrm>
            <a:off x="438912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1024128" y="182880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 Source of Truth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457200" y="2322576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All rules anchored to a governed Data Catalogue — no siloed, undocumented rule logic.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4754880" y="1572768"/>
            <a:ext cx="4114800" cy="1417320"/>
          </a:xfrm>
          <a:prstGeom prst="rect">
            <a:avLst/>
          </a:prstGeom>
          <a:solidFill>
            <a:srgbClr val="0D2B6E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1"/>
          <p:cNvSpPr/>
          <p:nvPr/>
        </p:nvSpPr>
        <p:spPr>
          <a:xfrm>
            <a:off x="4754880" y="1572768"/>
            <a:ext cx="4114800" cy="914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1"/>
          <p:cNvSpPr/>
          <p:nvPr/>
        </p:nvSpPr>
        <p:spPr>
          <a:xfrm>
            <a:off x="4919472" y="1828800"/>
            <a:ext cx="457200" cy="457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4919472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◎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5504688" y="182880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Governance at Every Stage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4937760" y="2322576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Staged rules, semantic validation, sandbox testing and Maker-Checker attestation enforce four-eyes control.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274320" y="3200400"/>
            <a:ext cx="4114800" cy="1417320"/>
          </a:xfrm>
          <a:prstGeom prst="rect">
            <a:avLst/>
          </a:prstGeom>
          <a:solidFill>
            <a:srgbClr val="0D2B6E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1"/>
          <p:cNvSpPr/>
          <p:nvPr/>
        </p:nvSpPr>
        <p:spPr>
          <a:xfrm>
            <a:off x="274320" y="3200400"/>
            <a:ext cx="4114800" cy="91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438912" y="3456432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1"/>
          <p:cNvSpPr/>
          <p:nvPr/>
        </p:nvSpPr>
        <p:spPr>
          <a:xfrm>
            <a:off x="438912" y="34564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1024128" y="3456432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Automated, Versioned 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457200" y="395020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CI/CD pipelines carry approved Rules JSON from dev to UAT to Production with full version history.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4754880" y="3200400"/>
            <a:ext cx="4114800" cy="1417320"/>
          </a:xfrm>
          <a:prstGeom prst="rect">
            <a:avLst/>
          </a:prstGeom>
          <a:solidFill>
            <a:srgbClr val="0D2B6E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4754880" y="3200400"/>
            <a:ext cx="4114800" cy="9144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1"/>
          <p:cNvSpPr/>
          <p:nvPr/>
        </p:nvSpPr>
        <p:spPr>
          <a:xfrm>
            <a:off x="4919472" y="3456432"/>
            <a:ext cx="457200" cy="457200"/>
          </a:xfrm>
          <a:prstGeom prst="ellipse">
            <a:avLst/>
          </a:prstGeom>
          <a:solidFill>
            <a:srgbClr val="452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4919472" y="34564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◷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5504688" y="3456432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Multi-Dimensional Quality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1"/>
          <p:cNvSpPr/>
          <p:nvPr/>
        </p:nvSpPr>
        <p:spPr>
          <a:xfrm>
            <a:off x="4937760" y="395020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Rules cover Completeness, Accuracy, Timeliness and Business Integrity — across physical and logical datasets.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2026-04-02T04:50:47Z</dcterms:created>
  <dc:creator>PptxGenJS</dc:creator>
</cp:coreProperties>
</file>