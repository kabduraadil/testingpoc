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37160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F1F4A"/>
                </a:solidFill>
              </a:rPr>
              <a:t>DataHub Syntax &amp; Semantic Check Workflow</a:t>
            </a:r>
          </a:p>
        </p:txBody>
      </p:sp>
      <p:sp>
        <p:nvSpPr>
          <p:cNvPr id="3" name="Oval 2"/>
          <p:cNvSpPr/>
          <p:nvPr/>
        </p:nvSpPr>
        <p:spPr>
          <a:xfrm>
            <a:off x="4370832" y="566928"/>
            <a:ext cx="292608" cy="292608"/>
          </a:xfrm>
          <a:prstGeom prst="ellipse">
            <a:avLst/>
          </a:prstGeom>
          <a:solidFill>
            <a:srgbClr val="0F1F4A"/>
          </a:solidFill>
          <a:ln>
            <a:solidFill>
              <a:srgbClr val="0F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60" y="548640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6F35A8"/>
                </a:solidFill>
              </a:rPr>
              <a:t>Event &amp; Audit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822960"/>
            <a:ext cx="31089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3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n 5"/>
          <p:cNvSpPr/>
          <p:nvPr/>
        </p:nvSpPr>
        <p:spPr>
          <a:xfrm>
            <a:off x="4526280" y="1005840"/>
            <a:ext cx="594360" cy="256032"/>
          </a:xfrm>
          <a:prstGeom prst="can">
            <a:avLst/>
          </a:prstGeom>
          <a:solidFill>
            <a:srgbClr val="6F35A8"/>
          </a:solidFill>
          <a:ln>
            <a:solidFill>
              <a:srgbClr val="6F3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 6"/>
          <p:cNvSpPr/>
          <p:nvPr/>
        </p:nvSpPr>
        <p:spPr>
          <a:xfrm>
            <a:off x="4526280" y="1170432"/>
            <a:ext cx="594360" cy="256032"/>
          </a:xfrm>
          <a:prstGeom prst="can">
            <a:avLst/>
          </a:prstGeom>
          <a:solidFill>
            <a:srgbClr val="6F35A8"/>
          </a:solidFill>
          <a:ln>
            <a:solidFill>
              <a:srgbClr val="6F3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n 7"/>
          <p:cNvSpPr/>
          <p:nvPr/>
        </p:nvSpPr>
        <p:spPr>
          <a:xfrm>
            <a:off x="4526280" y="1335024"/>
            <a:ext cx="594360" cy="256032"/>
          </a:xfrm>
          <a:prstGeom prst="can">
            <a:avLst/>
          </a:prstGeom>
          <a:solidFill>
            <a:srgbClr val="6F35A8"/>
          </a:solidFill>
          <a:ln>
            <a:solidFill>
              <a:srgbClr val="6F3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960120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</a:rPr>
              <a:t>• Event Log
• Status History
• Step Audit Trail
• Request / Response Payloads
• Errors / Timestamps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987552"/>
            <a:ext cx="19202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35A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200">
                <a:solidFill>
                  <a:srgbClr val="282828"/>
                </a:solidFill>
              </a:defRPr>
            </a:pPr>
            <a:r>
              <a:t>Centralized audit store</a:t>
            </a:r>
          </a:p>
          <a:p>
            <a:pPr algn="l">
              <a:defRPr sz="1200">
                <a:solidFill>
                  <a:srgbClr val="282828"/>
                </a:solidFill>
              </a:defRPr>
            </a:pPr>
            <a:r>
              <a:t>(Oracle / MongoDB / Audit DB)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452360" y="1325880"/>
            <a:ext cx="548640" cy="64008"/>
          </a:xfrm>
          <a:prstGeom prst="line">
            <a:avLst/>
          </a:prstGeom>
          <a:ln w="19050">
            <a:solidFill>
              <a:srgbClr val="6F35A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02920" y="2944368"/>
            <a:ext cx="292608" cy="292608"/>
          </a:xfrm>
          <a:prstGeom prst="ellipse">
            <a:avLst/>
          </a:prstGeom>
          <a:solidFill>
            <a:srgbClr val="0F1F4A"/>
          </a:solidFill>
          <a:ln>
            <a:solidFill>
              <a:srgbClr val="0F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321868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</a:rPr>
              <a:t>DQ Editor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" y="3703320"/>
            <a:ext cx="141732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3794760"/>
            <a:ext cx="1234440" cy="182880"/>
          </a:xfrm>
          <a:prstGeom prst="rect">
            <a:avLst/>
          </a:prstGeom>
          <a:solidFill>
            <a:srgbClr val="3A5B99"/>
          </a:solidFill>
          <a:ln>
            <a:solidFill>
              <a:srgbClr val="3A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7744" y="3822191"/>
            <a:ext cx="45720" cy="45720"/>
          </a:xfrm>
          <a:prstGeom prst="ellipse">
            <a:avLst/>
          </a:prstGeom>
          <a:solidFill>
            <a:srgbClr val="FF5F56"/>
          </a:solidFill>
          <a:ln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7472" y="3822191"/>
            <a:ext cx="45720" cy="45720"/>
          </a:xfrm>
          <a:prstGeom prst="ellipse">
            <a:avLst/>
          </a:prstGeom>
          <a:solidFill>
            <a:srgbClr val="FFBD2E"/>
          </a:solidFill>
          <a:ln>
            <a:solidFill>
              <a:srgbClr val="FFB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" y="3822191"/>
            <a:ext cx="45720" cy="45720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4096512"/>
            <a:ext cx="868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4285F4"/>
                </a:solidFill>
              </a:rPr>
              <a:t>Google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" y="4498848"/>
            <a:ext cx="1005840" cy="201168"/>
          </a:xfrm>
          <a:prstGeom prst="roundRect">
            <a:avLst/>
          </a:prstGeom>
          <a:noFill/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88720" y="4572000"/>
            <a:ext cx="64008" cy="64008"/>
          </a:xfrm>
          <a:prstGeom prst="ellipse">
            <a:avLst/>
          </a:prstGeom>
          <a:noFill/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243584" y="4626864"/>
            <a:ext cx="54864" cy="54864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468880" y="2944368"/>
            <a:ext cx="292608" cy="292608"/>
          </a:xfrm>
          <a:prstGeom prst="ellipse">
            <a:avLst/>
          </a:prstGeom>
          <a:solidFill>
            <a:srgbClr val="0F1F4A"/>
          </a:solidFill>
          <a:ln>
            <a:solidFill>
              <a:srgbClr val="0F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200400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E1E1E"/>
                </a:solidFill>
              </a:rPr>
              <a:t>LSE /
dataopsrestapi
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3657600"/>
            <a:ext cx="1097280" cy="1371600"/>
          </a:xfrm>
          <a:prstGeom prst="roundRect">
            <a:avLst/>
          </a:prstGeom>
          <a:solidFill>
            <a:srgbClr val="F5F9F1"/>
          </a:solidFill>
          <a:ln w="190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12848" y="3858768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88E3C"/>
                </a:solidFill>
              </a:rPr>
              <a:t>dataopsrestapi
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425196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388E3C"/>
                </a:solidFill>
              </a:rPr>
              <a:t>⚙</a:t>
            </a:r>
          </a:p>
        </p:txBody>
      </p:sp>
      <p:sp>
        <p:nvSpPr>
          <p:cNvPr id="28" name="Oval 27"/>
          <p:cNvSpPr/>
          <p:nvPr/>
        </p:nvSpPr>
        <p:spPr>
          <a:xfrm>
            <a:off x="4663440" y="2999232"/>
            <a:ext cx="292608" cy="292608"/>
          </a:xfrm>
          <a:prstGeom prst="ellipse">
            <a:avLst/>
          </a:prstGeom>
          <a:solidFill>
            <a:srgbClr val="0F1F4A"/>
          </a:solidFill>
          <a:ln>
            <a:solidFill>
              <a:srgbClr val="0F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273552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</a:rPr>
              <a:t>DataOps Java
Batch 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3858768"/>
            <a:ext cx="1051560" cy="960120"/>
          </a:xfrm>
          <a:prstGeom prst="roundRect">
            <a:avLst/>
          </a:prstGeom>
          <a:solidFill>
            <a:srgbClr val="FFF8EB"/>
          </a:solidFill>
          <a:ln w="19050">
            <a:solidFill>
              <a:srgbClr val="C48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19472" y="4005072"/>
            <a:ext cx="713232" cy="100584"/>
          </a:xfrm>
          <a:prstGeom prst="roundRect">
            <a:avLst/>
          </a:prstGeom>
          <a:solidFill>
            <a:srgbClr val="DDA000"/>
          </a:solidFill>
          <a:ln>
            <a:solidFill>
              <a:srgbClr val="DD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4037076"/>
            <a:ext cx="27432" cy="274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76088" y="4037076"/>
            <a:ext cx="27432" cy="274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19472" y="4169663"/>
            <a:ext cx="713232" cy="100584"/>
          </a:xfrm>
          <a:prstGeom prst="roundRect">
            <a:avLst/>
          </a:prstGeom>
          <a:solidFill>
            <a:srgbClr val="DDA000"/>
          </a:solidFill>
          <a:ln>
            <a:solidFill>
              <a:srgbClr val="DD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74920" y="4201668"/>
            <a:ext cx="27432" cy="274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276088" y="4201668"/>
            <a:ext cx="27432" cy="274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919472" y="4334256"/>
            <a:ext cx="713232" cy="100584"/>
          </a:xfrm>
          <a:prstGeom prst="roundRect">
            <a:avLst/>
          </a:prstGeom>
          <a:solidFill>
            <a:srgbClr val="DDA000"/>
          </a:solidFill>
          <a:ln>
            <a:solidFill>
              <a:srgbClr val="DD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4366260"/>
            <a:ext cx="27432" cy="274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76088" y="4366260"/>
            <a:ext cx="27432" cy="274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773168" y="4892040"/>
            <a:ext cx="100584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BEB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100">
                <a:solidFill>
                  <a:srgbClr val="282828"/>
                </a:solidFill>
              </a:defRPr>
            </a:pPr>
            <a:r>
              <a:t>Runs on</a:t>
            </a:r>
          </a:p>
          <a:p>
            <a:pPr algn="l">
              <a:defRPr sz="1100">
                <a:solidFill>
                  <a:srgbClr val="282828"/>
                </a:solidFill>
              </a:defRPr>
            </a:pPr>
            <a:r>
              <a:t>Edge Node</a:t>
            </a:r>
          </a:p>
        </p:txBody>
      </p:sp>
      <p:sp>
        <p:nvSpPr>
          <p:cNvPr id="41" name="Oval 40"/>
          <p:cNvSpPr/>
          <p:nvPr/>
        </p:nvSpPr>
        <p:spPr>
          <a:xfrm>
            <a:off x="8138160" y="2999232"/>
            <a:ext cx="292608" cy="292608"/>
          </a:xfrm>
          <a:prstGeom prst="ellipse">
            <a:avLst/>
          </a:prstGeom>
          <a:solidFill>
            <a:srgbClr val="0F1F4A"/>
          </a:solidFill>
          <a:ln>
            <a:solidFill>
              <a:srgbClr val="0F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227832"/>
            <a:ext cx="1920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</a:rPr>
              <a:t>Cluster /
Rule Execution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40880" y="3794760"/>
            <a:ext cx="2057400" cy="105156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185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269480" y="4087368"/>
            <a:ext cx="146304" cy="146304"/>
          </a:xfrm>
          <a:prstGeom prst="ellipse">
            <a:avLst/>
          </a:prstGeom>
          <a:solidFill>
            <a:srgbClr val="1853B3"/>
          </a:solidFill>
          <a:ln>
            <a:solidFill>
              <a:srgbClr val="185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479792" y="3886200"/>
            <a:ext cx="146304" cy="146304"/>
          </a:xfrm>
          <a:prstGeom prst="ellipse">
            <a:avLst/>
          </a:prstGeom>
          <a:solidFill>
            <a:srgbClr val="1853B3"/>
          </a:solidFill>
          <a:ln>
            <a:solidFill>
              <a:srgbClr val="185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680960" y="4087368"/>
            <a:ext cx="146304" cy="146304"/>
          </a:xfrm>
          <a:prstGeom prst="ellipse">
            <a:avLst/>
          </a:prstGeom>
          <a:solidFill>
            <a:srgbClr val="1853B3"/>
          </a:solidFill>
          <a:ln>
            <a:solidFill>
              <a:srgbClr val="185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7342631" y="3959352"/>
            <a:ext cx="210313" cy="201168"/>
          </a:xfrm>
          <a:prstGeom prst="line">
            <a:avLst/>
          </a:prstGeom>
          <a:ln w="15240">
            <a:solidFill>
              <a:srgbClr val="185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7552944" y="3959352"/>
            <a:ext cx="201168" cy="201168"/>
          </a:xfrm>
          <a:prstGeom prst="line">
            <a:avLst/>
          </a:prstGeom>
          <a:ln w="15240">
            <a:solidFill>
              <a:srgbClr val="185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342631" y="4160520"/>
            <a:ext cx="411481" cy="0"/>
          </a:xfrm>
          <a:prstGeom prst="line">
            <a:avLst/>
          </a:prstGeom>
          <a:ln w="15240">
            <a:solidFill>
              <a:srgbClr val="185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818120" y="3913632"/>
            <a:ext cx="1078992" cy="274320"/>
          </a:xfrm>
          <a:prstGeom prst="roundRect">
            <a:avLst/>
          </a:prstGeom>
          <a:solidFill>
            <a:srgbClr val="1853B3"/>
          </a:solidFill>
          <a:ln>
            <a:solidFill>
              <a:srgbClr val="185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36408" y="3941063"/>
            <a:ext cx="1042415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Execute the Rule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0" y="4297680"/>
            <a:ext cx="1188720" cy="210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900">
                <a:solidFill>
                  <a:srgbClr val="282828"/>
                </a:solidFill>
              </a:defRPr>
            </a:pPr>
            <a:r>
              <a:t>deequ-2.0.0-spark-3.1.jar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0" y="4553712"/>
            <a:ext cx="1188720" cy="210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80">
                <a:solidFill>
                  <a:srgbClr val="282828"/>
                </a:solidFill>
              </a:defRPr>
            </a:pPr>
            <a:r>
              <a:t>rules-execution-engine-1.0.jar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23760" y="5102352"/>
            <a:ext cx="1645920" cy="2560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53B3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000">
                <a:solidFill>
                  <a:srgbClr val="282828"/>
                </a:solidFill>
              </a:defRPr>
            </a:pPr>
            <a:r>
              <a:t>Spark cluster executes DQ rule</a:t>
            </a:r>
          </a:p>
        </p:txBody>
      </p:sp>
      <p:sp>
        <p:nvSpPr>
          <p:cNvPr id="55" name="Oval 54"/>
          <p:cNvSpPr/>
          <p:nvPr/>
        </p:nvSpPr>
        <p:spPr>
          <a:xfrm>
            <a:off x="10149840" y="2999232"/>
            <a:ext cx="292608" cy="292608"/>
          </a:xfrm>
          <a:prstGeom prst="ellipse">
            <a:avLst/>
          </a:prstGeom>
          <a:solidFill>
            <a:srgbClr val="0F1F4A"/>
          </a:solidFill>
          <a:ln>
            <a:solidFill>
              <a:srgbClr val="0F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20" y="3246120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</a:rPr>
              <a:t>Execution Outcome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92640" y="3703320"/>
            <a:ext cx="1371600" cy="10789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875520" y="3877056"/>
            <a:ext cx="292608" cy="292608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75520" y="388162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59568" y="3886200"/>
            <a:ext cx="594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388E3C"/>
                </a:solidFill>
              </a:rPr>
              <a:t>PASS</a:t>
            </a:r>
          </a:p>
        </p:txBody>
      </p:sp>
      <p:sp>
        <p:nvSpPr>
          <p:cNvPr id="61" name="Oval 60"/>
          <p:cNvSpPr/>
          <p:nvPr/>
        </p:nvSpPr>
        <p:spPr>
          <a:xfrm>
            <a:off x="9875520" y="4242816"/>
            <a:ext cx="292608" cy="292608"/>
          </a:xfrm>
          <a:prstGeom prst="ellipse">
            <a:avLst/>
          </a:prstGeom>
          <a:solidFill>
            <a:srgbClr val="EF5350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75520" y="424738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59568" y="4261104"/>
            <a:ext cx="594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</a:rPr>
              <a:t>FAIL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55480" y="5102352"/>
            <a:ext cx="987552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100">
                <a:solidFill>
                  <a:srgbClr val="282828"/>
                </a:solidFill>
              </a:defRPr>
            </a:pPr>
            <a:r>
              <a:t>Update audit:</a:t>
            </a:r>
          </a:p>
          <a:p>
            <a:pPr algn="l">
              <a:defRPr sz="1100">
                <a:solidFill>
                  <a:srgbClr val="282828"/>
                </a:solidFill>
              </a:defRPr>
            </a:pPr>
            <a:r>
              <a:t>COMPLETED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607040" y="5102352"/>
            <a:ext cx="86868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1100">
                <a:solidFill>
                  <a:srgbClr val="282828"/>
                </a:solidFill>
              </a:defRPr>
            </a:pPr>
            <a:r>
              <a:t>Update audit:</a:t>
            </a:r>
          </a:p>
          <a:p>
            <a:pPr algn="l">
              <a:defRPr sz="1100">
                <a:solidFill>
                  <a:srgbClr val="282828"/>
                </a:solidFill>
              </a:defRPr>
            </a:pPr>
            <a:r>
              <a:t>FAILED</a:t>
            </a:r>
          </a:p>
        </p:txBody>
      </p:sp>
      <p:sp>
        <p:nvSpPr>
          <p:cNvPr id="66" name="Oval 65"/>
          <p:cNvSpPr/>
          <p:nvPr/>
        </p:nvSpPr>
        <p:spPr>
          <a:xfrm>
            <a:off x="8092440" y="5623560"/>
            <a:ext cx="292608" cy="292608"/>
          </a:xfrm>
          <a:prstGeom prst="ellipse">
            <a:avLst/>
          </a:prstGeom>
          <a:solidFill>
            <a:srgbClr val="0F1F4A"/>
          </a:solidFill>
          <a:ln>
            <a:solidFill>
              <a:srgbClr val="0F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559612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F1F4A"/>
                </a:solidFill>
              </a:rPr>
              <a:t>Status View / Audit Timeline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06840" y="5422392"/>
            <a:ext cx="2103120" cy="777240"/>
          </a:xfrm>
          <a:prstGeom prst="roundRect">
            <a:avLst/>
          </a:prstGeom>
          <a:solidFill>
            <a:srgbClr val="EFF5FF"/>
          </a:solidFill>
          <a:ln w="15240">
            <a:solidFill>
              <a:srgbClr val="3A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62288" y="557784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3A5B99"/>
                </a:solidFill>
              </a:rPr>
              <a:t>🖥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46920" y="5532120"/>
            <a:ext cx="1234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23232"/>
                </a:solidFill>
              </a:rPr>
              <a:t>• Current Status
• Audit Timeline
• Step Details
• Errors / Logs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517904" y="4297680"/>
            <a:ext cx="566927" cy="0"/>
          </a:xfrm>
          <a:prstGeom prst="line">
            <a:avLst/>
          </a:prstGeom>
          <a:ln w="19050">
            <a:solidFill>
              <a:srgbClr val="0F1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600200" y="402336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2828"/>
                </a:solidFill>
              </a:rPr>
              <a:t>Submit
request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218688" y="4297680"/>
            <a:ext cx="1517904" cy="0"/>
          </a:xfrm>
          <a:prstGeom prst="line">
            <a:avLst/>
          </a:prstGeom>
          <a:ln w="19050">
            <a:solidFill>
              <a:srgbClr val="0F1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3685032" y="3959352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2828"/>
                </a:solidFill>
              </a:rPr>
              <a:t>Create audit event:
PENDING_EXECUTION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815584" y="4297680"/>
            <a:ext cx="1207008" cy="0"/>
          </a:xfrm>
          <a:prstGeom prst="line">
            <a:avLst/>
          </a:prstGeom>
          <a:ln w="19050">
            <a:solidFill>
              <a:srgbClr val="0F1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355080" y="3977639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2828"/>
                </a:solidFill>
              </a:rPr>
              <a:t>Trigger
spark-submit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125712" y="4297680"/>
            <a:ext cx="548640" cy="0"/>
          </a:xfrm>
          <a:prstGeom prst="line">
            <a:avLst/>
          </a:prstGeom>
          <a:ln w="19050">
            <a:solidFill>
              <a:srgbClr val="0F1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189720" y="3877056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2828"/>
                </a:solidFill>
              </a:rPr>
              <a:t>Syntax /
Semantic
check result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251960" y="1965960"/>
            <a:ext cx="0" cy="1828800"/>
          </a:xfrm>
          <a:prstGeom prst="line">
            <a:avLst/>
          </a:prstGeom>
          <a:ln w="19050">
            <a:solidFill>
              <a:srgbClr val="6F35A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840480" y="233172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82828"/>
                </a:solidFill>
              </a:rPr>
              <a:t>Poll
pending event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5330952" y="1993392"/>
            <a:ext cx="0" cy="1755647"/>
          </a:xfrm>
          <a:prstGeom prst="line">
            <a:avLst/>
          </a:prstGeom>
          <a:ln w="19050">
            <a:solidFill>
              <a:srgbClr val="6F35A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956048" y="233172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82828"/>
                </a:solidFill>
              </a:rPr>
              <a:t>Update
status =
RUNNING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0012680" y="4782312"/>
            <a:ext cx="0" cy="246888"/>
          </a:xfrm>
          <a:prstGeom prst="line">
            <a:avLst/>
          </a:prstGeom>
          <a:ln w="19050">
            <a:solidFill>
              <a:srgbClr val="388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744200" y="4782312"/>
            <a:ext cx="0" cy="246888"/>
          </a:xfrm>
          <a:prstGeom prst="line">
            <a:avLst/>
          </a:prstGeom>
          <a:ln w="1905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012680" y="1993392"/>
            <a:ext cx="0" cy="3108960"/>
          </a:xfrm>
          <a:prstGeom prst="line">
            <a:avLst/>
          </a:prstGeom>
          <a:ln w="19050">
            <a:solidFill>
              <a:srgbClr val="6F35A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098280" y="2331720"/>
            <a:ext cx="868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88E3C"/>
                </a:solidFill>
              </a:rPr>
              <a:t>Update audit:
COMPLETED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10744200" y="1993392"/>
            <a:ext cx="0" cy="3108960"/>
          </a:xfrm>
          <a:prstGeom prst="line">
            <a:avLst/>
          </a:prstGeom>
          <a:ln w="19050">
            <a:solidFill>
              <a:srgbClr val="6F35A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0104120" y="233172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C62828"/>
                </a:solidFill>
              </a:rPr>
              <a:t>Update audit:
FAILED</a:t>
            </a:r>
          </a:p>
        </p:txBody>
      </p:sp>
      <p:cxnSp>
        <p:nvCxnSpPr>
          <p:cNvPr id="89" name="Connector 88"/>
          <p:cNvCxnSpPr/>
          <p:nvPr/>
        </p:nvCxnSpPr>
        <p:spPr>
          <a:xfrm flipH="1">
            <a:off x="960120" y="5486400"/>
            <a:ext cx="9372600" cy="0"/>
          </a:xfrm>
          <a:prstGeom prst="line">
            <a:avLst/>
          </a:prstGeom>
          <a:ln w="15240">
            <a:solidFill>
              <a:srgbClr val="6F35A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60120" y="5074920"/>
            <a:ext cx="0" cy="411480"/>
          </a:xfrm>
          <a:prstGeom prst="line">
            <a:avLst/>
          </a:prstGeom>
          <a:ln w="15240">
            <a:solidFill>
              <a:srgbClr val="6F35A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4754880" y="5550408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E1E1E"/>
                </a:solidFill>
              </a:rPr>
              <a:t>Get current status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22960" y="6199632"/>
            <a:ext cx="10469880" cy="502920"/>
          </a:xfrm>
          <a:prstGeom prst="roundRect">
            <a:avLst/>
          </a:prstGeom>
          <a:solidFill>
            <a:srgbClr val="FBF8FF"/>
          </a:solidFill>
          <a:ln w="12700">
            <a:solidFill>
              <a:srgbClr val="6F3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60120" y="6272784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F35A8"/>
                </a:solidFill>
              </a:rPr>
              <a:t>Audit Status Lifecycle</a:t>
            </a:r>
          </a:p>
        </p:txBody>
      </p:sp>
      <p:sp>
        <p:nvSpPr>
          <p:cNvPr id="94" name="Oval 93"/>
          <p:cNvSpPr/>
          <p:nvPr/>
        </p:nvSpPr>
        <p:spPr>
          <a:xfrm>
            <a:off x="1097280" y="6419088"/>
            <a:ext cx="210312" cy="210312"/>
          </a:xfrm>
          <a:prstGeom prst="ellipse">
            <a:avLst/>
          </a:prstGeom>
          <a:solidFill>
            <a:srgbClr val="6F35A8"/>
          </a:solidFill>
          <a:ln>
            <a:solidFill>
              <a:srgbClr val="6F3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97280" y="6419088"/>
            <a:ext cx="21031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⮞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371600" y="637336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282828"/>
                </a:solidFill>
              </a:rPr>
              <a:t>REQUEST
SUBMITTED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2176272" y="6519672"/>
            <a:ext cx="246888" cy="0"/>
          </a:xfrm>
          <a:prstGeom prst="line">
            <a:avLst/>
          </a:prstGeom>
          <a:ln w="12700">
            <a:solidFill>
              <a:srgbClr val="0F1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2514600" y="6419088"/>
            <a:ext cx="210312" cy="210312"/>
          </a:xfrm>
          <a:prstGeom prst="ellipse">
            <a:avLst/>
          </a:prstGeom>
          <a:solidFill>
            <a:srgbClr val="6F35A8"/>
          </a:solidFill>
          <a:ln>
            <a:solidFill>
              <a:srgbClr val="6F3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514600" y="6419088"/>
            <a:ext cx="21031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◷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88920" y="637336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282828"/>
                </a:solidFill>
              </a:rPr>
              <a:t>PENDING
EXECUTION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3593592" y="6519672"/>
            <a:ext cx="246888" cy="0"/>
          </a:xfrm>
          <a:prstGeom prst="line">
            <a:avLst/>
          </a:prstGeom>
          <a:ln w="12700">
            <a:solidFill>
              <a:srgbClr val="0F1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3931920" y="6419088"/>
            <a:ext cx="210312" cy="210312"/>
          </a:xfrm>
          <a:prstGeom prst="ellipse">
            <a:avLst/>
          </a:prstGeom>
          <a:solidFill>
            <a:srgbClr val="6F35A8"/>
          </a:solidFill>
          <a:ln>
            <a:solidFill>
              <a:srgbClr val="6F3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31920" y="6419088"/>
            <a:ext cx="21031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⌕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206240" y="637336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282828"/>
                </a:solidFill>
              </a:rPr>
              <a:t>POLLED BY
BATCH SERVICE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010912" y="6519672"/>
            <a:ext cx="246888" cy="0"/>
          </a:xfrm>
          <a:prstGeom prst="line">
            <a:avLst/>
          </a:prstGeom>
          <a:ln w="12700">
            <a:solidFill>
              <a:srgbClr val="0F1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5349240" y="6419088"/>
            <a:ext cx="210312" cy="210312"/>
          </a:xfrm>
          <a:prstGeom prst="ellipse">
            <a:avLst/>
          </a:prstGeom>
          <a:solidFill>
            <a:srgbClr val="6F35A8"/>
          </a:solidFill>
          <a:ln>
            <a:solidFill>
              <a:srgbClr val="6F3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49240" y="6419088"/>
            <a:ext cx="21031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23560" y="637336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282828"/>
                </a:solidFill>
              </a:rPr>
              <a:t>RUNNING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6428232" y="6519672"/>
            <a:ext cx="246888" cy="0"/>
          </a:xfrm>
          <a:prstGeom prst="line">
            <a:avLst/>
          </a:prstGeom>
          <a:ln w="12700">
            <a:solidFill>
              <a:srgbClr val="0F1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6766560" y="6419088"/>
            <a:ext cx="210312" cy="210312"/>
          </a:xfrm>
          <a:prstGeom prst="ellipse">
            <a:avLst/>
          </a:prstGeom>
          <a:solidFill>
            <a:srgbClr val="6F35A8"/>
          </a:solidFill>
          <a:ln>
            <a:solidFill>
              <a:srgbClr val="6F3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766560" y="6419088"/>
            <a:ext cx="21031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➜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40880" y="637336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282828"/>
                </a:solidFill>
              </a:rPr>
              <a:t>SPARK SUBMIT
TRIGGERED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7845552" y="6519672"/>
            <a:ext cx="246888" cy="0"/>
          </a:xfrm>
          <a:prstGeom prst="line">
            <a:avLst/>
          </a:prstGeom>
          <a:ln w="12700">
            <a:solidFill>
              <a:srgbClr val="0F1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8183879" y="6419088"/>
            <a:ext cx="210312" cy="210312"/>
          </a:xfrm>
          <a:prstGeom prst="ellipse">
            <a:avLst/>
          </a:prstGeom>
          <a:solidFill>
            <a:srgbClr val="388E3C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183879" y="6419088"/>
            <a:ext cx="21031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458199" y="637336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282828"/>
                </a:solidFill>
              </a:rPr>
              <a:t>COMPLETED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9262871" y="6519672"/>
            <a:ext cx="246888" cy="0"/>
          </a:xfrm>
          <a:prstGeom prst="line">
            <a:avLst/>
          </a:prstGeom>
          <a:ln w="12700">
            <a:solidFill>
              <a:srgbClr val="0F1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9601200" y="6419088"/>
            <a:ext cx="210312" cy="210312"/>
          </a:xfrm>
          <a:prstGeom prst="ellipse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601200" y="6419088"/>
            <a:ext cx="21031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875520" y="637336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282828"/>
                </a:solidFill>
              </a:rPr>
              <a:t>FAILED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828800" y="6711696"/>
            <a:ext cx="8458200" cy="128016"/>
          </a:xfrm>
          <a:prstGeom prst="round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6716268"/>
            <a:ext cx="82296" cy="82296"/>
          </a:xfrm>
          <a:prstGeom prst="ellipse">
            <a:avLst/>
          </a:prstGeom>
          <a:solidFill>
            <a:srgbClr val="1853B3"/>
          </a:solidFill>
          <a:ln>
            <a:solidFill>
              <a:srgbClr val="185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924812" y="6713524"/>
            <a:ext cx="73152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39112" y="6700723"/>
            <a:ext cx="804672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</a:rPr>
              <a:t>Scope simplified to UI, API, audit store, Java batch service, Spark submit, cluster execution, and result auditing.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